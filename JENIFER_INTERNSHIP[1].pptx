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9" r:id="rId3"/>
    <p:sldId id="280" r:id="rId4"/>
    <p:sldId id="258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66" r:id="rId14"/>
    <p:sldId id="269" r:id="rId15"/>
    <p:sldId id="270" r:id="rId16"/>
    <p:sldId id="271" r:id="rId17"/>
    <p:sldId id="278" r:id="rId18"/>
    <p:sldId id="279" r:id="rId19"/>
    <p:sldId id="277" r:id="rId20"/>
    <p:sldId id="274" r:id="rId21"/>
    <p:sldId id="273" r:id="rId22"/>
    <p:sldId id="275" r:id="rId23"/>
    <p:sldId id="272" r:id="rId24"/>
    <p:sldId id="267" r:id="rId25"/>
    <p:sldId id="26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BF47C-E14A-41AF-84C6-1C1A44928C07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96120-5599-4318-8F7E-3B2187A3B5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13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96120-5599-4318-8F7E-3B2187A3B59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41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4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1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9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9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2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8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8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9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6920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78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8499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7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96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4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2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9097" y="1006524"/>
            <a:ext cx="7078406" cy="1407486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INTERNSHIP</a:t>
            </a:r>
            <a:b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0679" y="5650130"/>
            <a:ext cx="5991566" cy="109689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								Presented By,</a:t>
            </a:r>
          </a:p>
          <a:p>
            <a:r>
              <a:rPr dirty="0">
                <a:solidFill>
                  <a:schemeClr val="tx1"/>
                </a:solidFill>
              </a:rPr>
              <a:t>R. Jenifer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6660A-9A2F-E37B-FE5D-8EF0D481C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874" y="1006524"/>
            <a:ext cx="1625247" cy="14074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26F574-CEA7-CFC1-EE1C-93C095FD97D5}"/>
              </a:ext>
            </a:extLst>
          </p:cNvPr>
          <p:cNvSpPr txBox="1"/>
          <p:nvPr/>
        </p:nvSpPr>
        <p:spPr>
          <a:xfrm>
            <a:off x="441251" y="321181"/>
            <a:ext cx="8261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SARAH TUCKER COLLEGE (AUTONOMOUS)</a:t>
            </a:r>
            <a:endParaRPr lang="en-IN" sz="2800" dirty="0">
              <a:latin typeface="+mj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14D53B-2E6E-49AD-9DE2-105929F1BA58}"/>
              </a:ext>
            </a:extLst>
          </p:cNvPr>
          <p:cNvSpPr txBox="1">
            <a:spLocks/>
          </p:cNvSpPr>
          <p:nvPr/>
        </p:nvSpPr>
        <p:spPr>
          <a:xfrm>
            <a:off x="467833" y="3740248"/>
            <a:ext cx="7249670" cy="14074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Car Price Prediction Using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23122-9358-1088-28FC-9EF8EBC9338C}"/>
              </a:ext>
            </a:extLst>
          </p:cNvPr>
          <p:cNvSpPr txBox="1"/>
          <p:nvPr/>
        </p:nvSpPr>
        <p:spPr>
          <a:xfrm>
            <a:off x="1235139" y="2516296"/>
            <a:ext cx="579121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						a</a:t>
            </a:r>
            <a:r>
              <a:rPr lang="en-IN" dirty="0">
                <a:solidFill>
                  <a:schemeClr val="tx1"/>
                </a:solidFill>
              </a:rPr>
              <a:t>t</a:t>
            </a:r>
          </a:p>
          <a:p>
            <a:r>
              <a:rPr lang="en-IN" sz="2800" b="1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MavePizon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Technologies, Tirunelveli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30" y="404609"/>
            <a:ext cx="7375452" cy="132080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50000"/>
                  </a:schemeClr>
                </a:solidFill>
              </a:rPr>
              <a:t>COMPANY PROFILE </a:t>
            </a:r>
            <a:br>
              <a:rPr lang="en-US" dirty="0"/>
            </a:b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796" y="1423730"/>
            <a:ext cx="7107386" cy="388077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</a:t>
            </a:r>
            <a:r>
              <a:rPr lang="en-IN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MAVEPIZON TECHNOLOGIES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indent="0" algn="ctr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indent="0" algn="ctr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1200" dirty="0">
                <a:latin typeface="+mj-lt"/>
              </a:rPr>
              <a:t>Founded in 2024, based in Tirunelveli.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1200" dirty="0">
                <a:latin typeface="+mj-lt"/>
              </a:rPr>
              <a:t>Provides IT solutions, skill-based training, and software development.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1200" dirty="0">
                <a:latin typeface="+mj-lt"/>
              </a:rPr>
              <a:t>Focus areas: </a:t>
            </a:r>
            <a:r>
              <a:rPr lang="en-US" sz="1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Web development, Mobile Apps, IoT, Cloud &amp; DevOps.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1200" dirty="0">
                <a:latin typeface="+mj-lt"/>
              </a:rPr>
              <a:t>Known for workshops, coding bootcamps, and academic collaborations.</a:t>
            </a:r>
            <a:endParaRPr lang="en-US" sz="11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11200" b="1" dirty="0">
                <a:latin typeface="+mj-lt"/>
              </a:rPr>
              <a:t>Motto: </a:t>
            </a:r>
            <a:r>
              <a:rPr lang="en-US" sz="11200" dirty="0">
                <a:latin typeface="+mj-lt"/>
              </a:rPr>
              <a:t>'Learn. Build. Deploy'.</a:t>
            </a:r>
          </a:p>
          <a:p>
            <a:pPr marL="0" indent="0" algn="ctr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E6294-B7A3-E0BE-1ED1-8E2020029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576" t="72769" r="7199" b="15378"/>
          <a:stretch>
            <a:fillRect/>
          </a:stretch>
        </p:blipFill>
        <p:spPr bwMode="auto">
          <a:xfrm rot="16200000">
            <a:off x="829517" y="1215595"/>
            <a:ext cx="570271" cy="833117"/>
          </a:xfrm>
          <a:prstGeom prst="roundRect">
            <a:avLst>
              <a:gd name="adj" fmla="val 16667"/>
            </a:avLst>
          </a:prstGeom>
          <a:ln>
            <a:solidFill>
              <a:srgbClr val="00B0F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CAEB3-E5DA-746C-F0AE-75F9734A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26"/>
          <a:stretch>
            <a:fillRect/>
          </a:stretch>
        </p:blipFill>
        <p:spPr>
          <a:xfrm>
            <a:off x="570272" y="1071716"/>
            <a:ext cx="6508954" cy="442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4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989" y="607055"/>
            <a:ext cx="6347713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73" y="1454268"/>
            <a:ext cx="7008572" cy="4533577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Internship provided practical experience in applying academic knowledge</a:t>
            </a:r>
            <a:r>
              <a:rPr lang="en-IN" sz="2800" dirty="0">
                <a:latin typeface="+mj-lt"/>
              </a:rPr>
              <a:t> and gain industry practices.</a:t>
            </a:r>
            <a:endParaRPr sz="2800" dirty="0">
              <a:latin typeface="+mj-lt"/>
            </a:endParaRP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sz="2800" b="1" dirty="0">
                <a:latin typeface="+mj-lt"/>
              </a:rPr>
              <a:t>Objectives:</a:t>
            </a:r>
          </a:p>
          <a:p>
            <a:pPr marL="1350963" indent="-457200">
              <a:buClr>
                <a:schemeClr val="tx1">
                  <a:lumMod val="95000"/>
                  <a:lumOff val="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sz="2800" dirty="0">
                <a:latin typeface="+mj-lt"/>
              </a:rPr>
              <a:t>Gain hands-on experience.</a:t>
            </a:r>
          </a:p>
          <a:p>
            <a:pPr marL="1350963" indent="-457200">
              <a:buClr>
                <a:schemeClr val="tx1">
                  <a:lumMod val="95000"/>
                  <a:lumOff val="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sz="2800" dirty="0">
                <a:latin typeface="+mj-lt"/>
              </a:rPr>
              <a:t>Develop technical and soft skills.</a:t>
            </a:r>
          </a:p>
          <a:p>
            <a:pPr marL="1350963" indent="-457200">
              <a:buClr>
                <a:schemeClr val="tx1">
                  <a:lumMod val="95000"/>
                  <a:lumOff val="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sz="2800" dirty="0">
                <a:latin typeface="+mj-lt"/>
              </a:rPr>
              <a:t>Understand workplace dynamics.</a:t>
            </a:r>
          </a:p>
          <a:p>
            <a:pPr marL="1350963" indent="-457200">
              <a:buClr>
                <a:schemeClr val="tx1">
                  <a:lumMod val="95000"/>
                  <a:lumOff val="5000"/>
                </a:schemeClr>
              </a:buClr>
              <a:buSzPct val="90000"/>
              <a:buFont typeface="Wingdings" panose="05000000000000000000" pitchFamily="2" charset="2"/>
              <a:buChar char="§"/>
            </a:pPr>
            <a:r>
              <a:rPr sz="2800" dirty="0">
                <a:latin typeface="+mj-lt"/>
              </a:rPr>
              <a:t>Build professional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87" y="590392"/>
            <a:ext cx="6347713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47" y="1387013"/>
            <a:ext cx="6815013" cy="3880773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Car price prediction is complex due to multiple influencing factors</a:t>
            </a:r>
            <a:r>
              <a:rPr lang="en-IN" sz="2800" dirty="0">
                <a:latin typeface="+mj-lt"/>
              </a:rPr>
              <a:t> such as </a:t>
            </a:r>
            <a:r>
              <a:rPr lang="nb-NO" sz="2800" dirty="0">
                <a:latin typeface="+mj-lt"/>
              </a:rPr>
              <a:t>brand, model, mileage, fuel type, etc.</a:t>
            </a:r>
            <a:endParaRPr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Machine learning models were used to estimate car prices based on historical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Random Forest and XG</a:t>
            </a:r>
            <a:r>
              <a:rPr lang="en-US" sz="2800" dirty="0">
                <a:latin typeface="+mj-lt"/>
              </a:rPr>
              <a:t> </a:t>
            </a:r>
            <a:r>
              <a:rPr sz="2800" dirty="0">
                <a:latin typeface="+mj-lt"/>
              </a:rPr>
              <a:t>Boost achieved the best performance.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Helps buyers, sellers, and dealers make data-driven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96" y="411418"/>
            <a:ext cx="6347713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PROJECT OVERVIEW :</a:t>
            </a:r>
            <a:b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CAR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00" y="1484671"/>
            <a:ext cx="7492411" cy="4085201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800" b="1" dirty="0">
              <a:latin typeface="+mj-lt"/>
            </a:endParaRP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sz="2800" dirty="0">
                <a:latin typeface="+mj-lt"/>
              </a:rPr>
              <a:t> 	</a:t>
            </a:r>
            <a:r>
              <a:rPr sz="2800" dirty="0">
                <a:latin typeface="+mj-lt"/>
              </a:rPr>
              <a:t>Predict </a:t>
            </a:r>
            <a:r>
              <a:rPr lang="en-IN" sz="2800" dirty="0">
                <a:latin typeface="+mj-lt"/>
              </a:rPr>
              <a:t>the price for</a:t>
            </a:r>
            <a:r>
              <a:rPr sz="2800" dirty="0">
                <a:latin typeface="+mj-lt"/>
              </a:rPr>
              <a:t> car</a:t>
            </a:r>
            <a:r>
              <a:rPr lang="en-IN" sz="2800" dirty="0">
                <a:latin typeface="+mj-lt"/>
              </a:rPr>
              <a:t> by its car name </a:t>
            </a:r>
            <a:r>
              <a:rPr sz="2800" dirty="0">
                <a:latin typeface="+mj-lt"/>
              </a:rPr>
              <a:t>using ML</a:t>
            </a:r>
            <a:r>
              <a:rPr lang="en-IN" sz="2800" dirty="0">
                <a:latin typeface="+mj-lt"/>
              </a:rPr>
              <a:t> Model</a:t>
            </a:r>
            <a:r>
              <a:rPr sz="2800" dirty="0">
                <a:latin typeface="+mj-lt"/>
              </a:rPr>
              <a:t>.</a:t>
            </a:r>
            <a:endParaRPr lang="en-IN" sz="2800" dirty="0">
              <a:latin typeface="+mj-lt"/>
            </a:endParaRP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800" b="1" dirty="0">
                <a:latin typeface="+mj-lt"/>
              </a:rPr>
              <a:t>Key Features: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800" dirty="0">
                <a:latin typeface="+mj-lt"/>
              </a:rPr>
              <a:t> 	Car brand, year, mileage, engine size, fuel type, transmission.</a:t>
            </a:r>
            <a:endParaRPr sz="2800" dirty="0">
              <a:latin typeface="+mj-lt"/>
            </a:endParaRP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sz="2800" b="1" dirty="0">
                <a:latin typeface="+mj-lt"/>
              </a:rPr>
              <a:t>Covered full ML pipeline: </a:t>
            </a:r>
            <a:endParaRPr lang="en-US" sz="2800" b="1" dirty="0">
              <a:latin typeface="+mj-lt"/>
            </a:endParaRP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sz="2800" dirty="0">
                <a:latin typeface="+mj-lt"/>
              </a:rPr>
              <a:t>	</a:t>
            </a:r>
            <a:r>
              <a:rPr sz="2800" dirty="0">
                <a:latin typeface="+mj-lt"/>
              </a:rPr>
              <a:t>Data collection → Preprocessing → EDA </a:t>
            </a:r>
            <a:endParaRPr lang="en-US" sz="2800" dirty="0">
              <a:latin typeface="+mj-lt"/>
            </a:endParaRP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IN" sz="2800" dirty="0">
                <a:latin typeface="+mj-lt"/>
              </a:rPr>
              <a:t>     </a:t>
            </a:r>
            <a:r>
              <a:rPr lang="en-US" sz="2800" dirty="0">
                <a:latin typeface="+mj-lt"/>
              </a:rPr>
              <a:t>→ Model Training → Evaluation </a:t>
            </a:r>
            <a:r>
              <a:rPr sz="2800" dirty="0">
                <a:latin typeface="+mj-lt"/>
              </a:rPr>
              <a:t>→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153" y="290624"/>
            <a:ext cx="6928884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81" y="1131469"/>
            <a:ext cx="6780028" cy="5287997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400" dirty="0">
                <a:latin typeface="+mj-lt"/>
              </a:rPr>
              <a:t>Python, </a:t>
            </a:r>
            <a:r>
              <a:rPr sz="2400" dirty="0" err="1">
                <a:latin typeface="+mj-lt"/>
              </a:rPr>
              <a:t>Jupyter</a:t>
            </a:r>
            <a:r>
              <a:rPr sz="2400" dirty="0">
                <a:latin typeface="+mj-lt"/>
              </a:rPr>
              <a:t> Notebook, Google </a:t>
            </a:r>
            <a:r>
              <a:rPr sz="2400" dirty="0" err="1">
                <a:latin typeface="+mj-lt"/>
              </a:rPr>
              <a:t>Colab</a:t>
            </a:r>
            <a:r>
              <a:rPr sz="2400" dirty="0">
                <a:latin typeface="+mj-lt"/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400" b="1" dirty="0">
                <a:latin typeface="+mj-lt"/>
              </a:rPr>
              <a:t>Libraries: </a:t>
            </a:r>
            <a:endParaRPr lang="en-US" sz="2400" b="1" dirty="0">
              <a:latin typeface="+mj-lt"/>
            </a:endParaRPr>
          </a:p>
          <a:p>
            <a:pPr marL="893763" indent="0" defTabSz="627063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+mj-lt"/>
              </a:rPr>
              <a:t>	</a:t>
            </a:r>
            <a:r>
              <a:rPr sz="2400" dirty="0">
                <a:latin typeface="+mj-lt"/>
              </a:rPr>
              <a:t>Pandas </a:t>
            </a:r>
            <a:endParaRPr lang="en-US" sz="2400" dirty="0">
              <a:latin typeface="+mj-lt"/>
            </a:endParaRPr>
          </a:p>
          <a:p>
            <a:pPr marL="1236663" lvl="4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+mj-lt"/>
              </a:rPr>
              <a:t>NumPy </a:t>
            </a:r>
          </a:p>
          <a:p>
            <a:pPr marL="1236663" lvl="4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+mj-lt"/>
              </a:rPr>
              <a:t>Matplotlib</a:t>
            </a:r>
          </a:p>
          <a:p>
            <a:pPr marL="1236663" lvl="4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+mj-lt"/>
              </a:rPr>
              <a:t>Seaborn</a:t>
            </a:r>
          </a:p>
          <a:p>
            <a:pPr marL="1236663" lvl="4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latin typeface="+mj-lt"/>
              </a:rPr>
              <a:t>Scikit-learn </a:t>
            </a:r>
          </a:p>
          <a:p>
            <a:pPr marL="1236663" lvl="4" indent="-3429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ü"/>
            </a:pPr>
            <a:r>
              <a:rPr lang="en-IN" sz="2400" dirty="0" err="1">
                <a:latin typeface="+mj-lt"/>
              </a:rPr>
              <a:t>XGBoost</a:t>
            </a:r>
            <a:r>
              <a:rPr lang="en-IN" sz="2400" dirty="0">
                <a:latin typeface="+mj-lt"/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400" dirty="0" err="1">
                <a:latin typeface="+mj-lt"/>
              </a:rPr>
              <a:t>Streamlit</a:t>
            </a:r>
            <a:r>
              <a:rPr sz="2400" dirty="0">
                <a:latin typeface="+mj-lt"/>
              </a:rPr>
              <a:t> for </a:t>
            </a:r>
            <a:r>
              <a:rPr lang="en-IN" sz="2400" dirty="0">
                <a:latin typeface="+mj-lt"/>
              </a:rPr>
              <a:t>user-friendly web </a:t>
            </a:r>
            <a:r>
              <a:rPr sz="2400" dirty="0">
                <a:latin typeface="+mj-lt"/>
              </a:rPr>
              <a:t>interface.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400" b="1" dirty="0">
                <a:latin typeface="+mj-lt"/>
              </a:rPr>
              <a:t>Git &amp;GitHub</a:t>
            </a:r>
            <a:r>
              <a:rPr lang="en-IN" sz="2400" b="1" dirty="0">
                <a:latin typeface="+mj-lt"/>
              </a:rPr>
              <a:t> : </a:t>
            </a:r>
            <a:r>
              <a:rPr lang="en-IN" sz="2400" dirty="0">
                <a:latin typeface="+mj-lt"/>
              </a:rPr>
              <a:t>It is a </a:t>
            </a:r>
            <a:r>
              <a:rPr sz="2400" dirty="0">
                <a:latin typeface="+mj-lt"/>
              </a:rPr>
              <a:t>version control</a:t>
            </a:r>
            <a:r>
              <a:rPr lang="en-IN" sz="2400" dirty="0">
                <a:latin typeface="+mj-lt"/>
              </a:rPr>
              <a:t> used for tracking code and collaboration.</a:t>
            </a:r>
            <a:endParaRPr sz="24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618" y="542231"/>
            <a:ext cx="6347713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4" y="1369779"/>
            <a:ext cx="7049730" cy="4293601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Data Collection: </a:t>
            </a:r>
            <a:r>
              <a:rPr sz="2800" dirty="0">
                <a:latin typeface="+mj-lt"/>
              </a:rPr>
              <a:t>Kaggle and online sources.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Preprocessing: </a:t>
            </a:r>
            <a:r>
              <a:rPr sz="2800" dirty="0">
                <a:latin typeface="+mj-lt"/>
              </a:rPr>
              <a:t>Handle missing values, encoding</a:t>
            </a:r>
            <a:r>
              <a:rPr lang="en-IN" sz="2800" dirty="0">
                <a:latin typeface="+mj-lt"/>
              </a:rPr>
              <a:t> categorical features</a:t>
            </a:r>
            <a:r>
              <a:rPr sz="2800" dirty="0">
                <a:latin typeface="+mj-lt"/>
              </a:rPr>
              <a:t>, scaling</a:t>
            </a:r>
            <a:r>
              <a:rPr lang="en-IN" sz="2800" dirty="0">
                <a:latin typeface="+mj-lt"/>
              </a:rPr>
              <a:t> numerical features</a:t>
            </a:r>
            <a:r>
              <a:rPr sz="2800" dirty="0">
                <a:latin typeface="+mj-lt"/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EDA:</a:t>
            </a:r>
            <a:r>
              <a:rPr sz="2800" dirty="0">
                <a:latin typeface="+mj-lt"/>
              </a:rPr>
              <a:t> Heatmaps, scatter plots, boxplots.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Feature Engineering: </a:t>
            </a:r>
            <a:r>
              <a:rPr sz="2800" dirty="0">
                <a:latin typeface="+mj-lt"/>
              </a:rPr>
              <a:t>Car</a:t>
            </a:r>
            <a:r>
              <a:rPr lang="en-IN" sz="2800" dirty="0">
                <a:latin typeface="+mj-lt"/>
              </a:rPr>
              <a:t> Age</a:t>
            </a:r>
            <a:r>
              <a:rPr sz="2800" dirty="0">
                <a:latin typeface="+mj-lt"/>
              </a:rPr>
              <a:t>, mileage.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Model </a:t>
            </a:r>
            <a:r>
              <a:rPr lang="en-IN" sz="2800" b="1" dirty="0">
                <a:latin typeface="+mj-lt"/>
              </a:rPr>
              <a:t>Training</a:t>
            </a:r>
            <a:r>
              <a:rPr sz="2800" b="1" dirty="0">
                <a:latin typeface="+mj-lt"/>
              </a:rPr>
              <a:t>: </a:t>
            </a:r>
            <a:r>
              <a:rPr sz="2800" dirty="0">
                <a:latin typeface="+mj-lt"/>
              </a:rPr>
              <a:t>Linear Regression, Decision Tree, Random Forest, </a:t>
            </a:r>
            <a:r>
              <a:rPr sz="2800" dirty="0" err="1">
                <a:latin typeface="+mj-lt"/>
              </a:rPr>
              <a:t>XGBoost</a:t>
            </a:r>
            <a:r>
              <a:rPr sz="2800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97" y="602626"/>
            <a:ext cx="7694429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CHALLENGES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356533"/>
            <a:ext cx="7101839" cy="4678507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Missing</a:t>
            </a:r>
            <a:r>
              <a:rPr lang="en-IN" sz="2800" dirty="0">
                <a:latin typeface="+mj-lt"/>
              </a:rPr>
              <a:t> values </a:t>
            </a:r>
            <a:r>
              <a:rPr sz="2800" dirty="0">
                <a:latin typeface="+mj-lt"/>
              </a:rPr>
              <a:t>and inconsistent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High cardinality</a:t>
            </a:r>
            <a:r>
              <a:rPr lang="en-IN" sz="2800" b="1" dirty="0">
                <a:latin typeface="+mj-lt"/>
              </a:rPr>
              <a:t>: </a:t>
            </a:r>
            <a:r>
              <a:rPr lang="en-IN" sz="2800" dirty="0">
                <a:latin typeface="+mj-lt"/>
              </a:rPr>
              <a:t>Too many unique car models in categorical type.</a:t>
            </a:r>
            <a:endParaRPr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Overfitting </a:t>
            </a:r>
            <a:r>
              <a:rPr lang="en-IN" sz="2800" dirty="0">
                <a:latin typeface="+mj-lt"/>
              </a:rPr>
              <a:t>solved using cross-validation and regularization.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Feature correlation and multicollinearity</a:t>
            </a:r>
            <a:r>
              <a:rPr lang="en-IN" sz="2800" dirty="0">
                <a:latin typeface="+mj-lt"/>
              </a:rPr>
              <a:t> affected linear models.</a:t>
            </a:r>
            <a:endParaRPr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latin typeface="+mj-lt"/>
              </a:rPr>
              <a:t>Hyperparameter tuning </a:t>
            </a:r>
            <a:r>
              <a:rPr lang="en-IN" sz="2800" dirty="0">
                <a:latin typeface="+mj-lt"/>
              </a:rPr>
              <a:t>used to finding the best value for machine learning model.</a:t>
            </a:r>
            <a:endParaRPr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Time management constraints</a:t>
            </a:r>
            <a:r>
              <a:rPr lang="en-IN" sz="2800" dirty="0">
                <a:latin typeface="+mj-lt"/>
              </a:rPr>
              <a:t> used in balancing coding and testing the dataset.</a:t>
            </a:r>
            <a:endParaRPr sz="20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050" y="574739"/>
            <a:ext cx="6347713" cy="995916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3842"/>
            <a:ext cx="6347714" cy="3880773"/>
          </a:xfrm>
        </p:spPr>
        <p:txBody>
          <a:bodyPr>
            <a:normAutofit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Achieved R² score of </a:t>
            </a:r>
            <a:r>
              <a:rPr lang="en-IN" sz="2800" dirty="0">
                <a:latin typeface="+mj-lt"/>
              </a:rPr>
              <a:t>84%</a:t>
            </a:r>
            <a:r>
              <a:rPr sz="2800" dirty="0">
                <a:latin typeface="+mj-lt"/>
              </a:rPr>
              <a:t>(</a:t>
            </a:r>
            <a:r>
              <a:rPr sz="2800" dirty="0" err="1">
                <a:latin typeface="+mj-lt"/>
              </a:rPr>
              <a:t>XGBoost</a:t>
            </a:r>
            <a:r>
              <a:rPr sz="2800" dirty="0">
                <a:latin typeface="+mj-lt"/>
              </a:rPr>
              <a:t>).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b="1" dirty="0">
                <a:latin typeface="+mj-lt"/>
              </a:rPr>
              <a:t>Key features: </a:t>
            </a:r>
            <a:r>
              <a:rPr sz="2800" dirty="0">
                <a:latin typeface="+mj-lt"/>
              </a:rPr>
              <a:t>Car </a:t>
            </a:r>
            <a:r>
              <a:rPr lang="en-IN" sz="2800" dirty="0">
                <a:latin typeface="+mj-lt"/>
              </a:rPr>
              <a:t>brand</a:t>
            </a:r>
            <a:r>
              <a:rPr sz="2800" dirty="0">
                <a:latin typeface="+mj-lt"/>
              </a:rPr>
              <a:t>,</a:t>
            </a:r>
            <a:r>
              <a:rPr lang="en-IN" sz="2800" dirty="0">
                <a:latin typeface="+mj-lt"/>
              </a:rPr>
              <a:t> year,</a:t>
            </a:r>
            <a:r>
              <a:rPr sz="2800" dirty="0">
                <a:latin typeface="+mj-lt"/>
              </a:rPr>
              <a:t> mileage, engine size, fuel type.</a:t>
            </a:r>
            <a:endParaRPr lang="en-IN"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latin typeface="+mj-lt"/>
              </a:rPr>
              <a:t>Target:</a:t>
            </a:r>
            <a:r>
              <a:rPr lang="en-IN" sz="2800" dirty="0">
                <a:latin typeface="+mj-lt"/>
              </a:rPr>
              <a:t> Car Name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Developed a working ML model used to predict car price using car name.</a:t>
            </a:r>
            <a:endParaRPr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Gained practical experience in real-world ML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622" y="516964"/>
            <a:ext cx="6347713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370" y="1275687"/>
            <a:ext cx="6666273" cy="3880773"/>
          </a:xfrm>
        </p:spPr>
        <p:txBody>
          <a:bodyPr>
            <a:no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End-to-end ML pipeline implementation.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Technical skills in Python, Scikit-learn, </a:t>
            </a:r>
            <a:r>
              <a:rPr sz="2800" dirty="0" err="1">
                <a:latin typeface="+mj-lt"/>
              </a:rPr>
              <a:t>XGBoost</a:t>
            </a:r>
            <a:r>
              <a:rPr sz="2800" dirty="0">
                <a:latin typeface="+mj-lt"/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Handling real-world data challenges.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Model evaluation and comparison.</a:t>
            </a:r>
            <a:endParaRPr lang="en-IN"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Handling missing data, outliers, and overfitting.</a:t>
            </a:r>
            <a:endParaRPr sz="2800" dirty="0">
              <a:latin typeface="+mj-lt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v"/>
            </a:pPr>
            <a:r>
              <a:rPr sz="2800" dirty="0">
                <a:latin typeface="+mj-lt"/>
              </a:rPr>
              <a:t>Improved problem solving, planning, and communication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C80101-08EB-C01C-2E85-B3C096B1F09C}"/>
              </a:ext>
            </a:extLst>
          </p:cNvPr>
          <p:cNvSpPr txBox="1"/>
          <p:nvPr/>
        </p:nvSpPr>
        <p:spPr>
          <a:xfrm>
            <a:off x="1386348" y="2727433"/>
            <a:ext cx="5850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VISUALIZATION</a:t>
            </a:r>
            <a:endParaRPr lang="en-IN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599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03" y="529304"/>
            <a:ext cx="6347713" cy="132080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CORRELATION HEATMAP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2FBF3-2079-57D2-C263-CDDC51438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85" t="18733" r="44989" b="10543"/>
          <a:stretch>
            <a:fillRect/>
          </a:stretch>
        </p:blipFill>
        <p:spPr>
          <a:xfrm>
            <a:off x="591994" y="1376518"/>
            <a:ext cx="6191770" cy="51146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5615-2536-D7C0-4AE4-B8DFC144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4752"/>
            <a:ext cx="7331111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 HISTOGRAM OF SELLING PRICE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B5BF1-17F7-8DC5-A26B-BFB1AA22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149" y="1489850"/>
            <a:ext cx="6347714" cy="388077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2F162-2348-DC31-B5E2-795F746E9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3" t="25359" r="47330" b="13115"/>
          <a:stretch>
            <a:fillRect/>
          </a:stretch>
        </p:blipFill>
        <p:spPr>
          <a:xfrm>
            <a:off x="585618" y="1272132"/>
            <a:ext cx="6493607" cy="491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2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0F26-05AF-774B-B3C7-087946FC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6" y="541079"/>
            <a:ext cx="6744661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BOXPLOT FOR PRESENT PRICE</a:t>
            </a:r>
            <a:br>
              <a:rPr lang="en-US" sz="2800" dirty="0">
                <a:solidFill>
                  <a:schemeClr val="accent1">
                    <a:lumMod val="75000"/>
                  </a:schemeClr>
                </a:solidFill>
              </a:rPr>
            </a:b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3A549-5697-5687-91DB-91CE5854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6B770-0D71-B90B-FE2F-0F3760E99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02" t="21958" r="51244" b="15798"/>
          <a:stretch>
            <a:fillRect/>
          </a:stretch>
        </p:blipFill>
        <p:spPr>
          <a:xfrm>
            <a:off x="707922" y="1442496"/>
            <a:ext cx="6249391" cy="46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D264-6145-C0C4-B286-4A5E89C5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33" y="509181"/>
            <a:ext cx="6347713" cy="1320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YEAR VS. SELLING PRICE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4A926-89AD-1819-187D-1A13A9C38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9EB87-3C76-E771-0E88-57802DF6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8" t="21575" r="47739" b="15925"/>
          <a:stretch>
            <a:fillRect/>
          </a:stretch>
        </p:blipFill>
        <p:spPr>
          <a:xfrm>
            <a:off x="445680" y="1297858"/>
            <a:ext cx="6741701" cy="474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02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90A0-00A7-A48F-5CD0-BEAA8EC2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685" y="2644877"/>
            <a:ext cx="6347714" cy="1320800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2"/>
                </a:solidFill>
              </a:rPr>
              <a:t>MODEL COMPARSION</a:t>
            </a:r>
          </a:p>
        </p:txBody>
      </p:sp>
    </p:spTree>
    <p:extLst>
      <p:ext uri="{BB962C8B-B14F-4D97-AF65-F5344CB8AC3E}">
        <p14:creationId xmlns:p14="http://schemas.microsoft.com/office/powerpoint/2010/main" val="1654191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F87176-CBEF-AE99-23BB-1C763326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153288"/>
              </p:ext>
            </p:extLst>
          </p:nvPr>
        </p:nvGraphicFramePr>
        <p:xfrm>
          <a:off x="599768" y="1209370"/>
          <a:ext cx="6331971" cy="42329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0245">
                  <a:extLst>
                    <a:ext uri="{9D8B030D-6E8A-4147-A177-3AD203B41FA5}">
                      <a16:colId xmlns:a16="http://schemas.microsoft.com/office/drawing/2014/main" val="2139639319"/>
                    </a:ext>
                  </a:extLst>
                </a:gridCol>
                <a:gridCol w="1376516">
                  <a:extLst>
                    <a:ext uri="{9D8B030D-6E8A-4147-A177-3AD203B41FA5}">
                      <a16:colId xmlns:a16="http://schemas.microsoft.com/office/drawing/2014/main" val="1763623399"/>
                    </a:ext>
                  </a:extLst>
                </a:gridCol>
                <a:gridCol w="1189704">
                  <a:extLst>
                    <a:ext uri="{9D8B030D-6E8A-4147-A177-3AD203B41FA5}">
                      <a16:colId xmlns:a16="http://schemas.microsoft.com/office/drawing/2014/main" val="3065454693"/>
                    </a:ext>
                  </a:extLst>
                </a:gridCol>
                <a:gridCol w="1435506">
                  <a:extLst>
                    <a:ext uri="{9D8B030D-6E8A-4147-A177-3AD203B41FA5}">
                      <a16:colId xmlns:a16="http://schemas.microsoft.com/office/drawing/2014/main" val="2654055130"/>
                    </a:ext>
                  </a:extLst>
                </a:gridCol>
              </a:tblGrid>
              <a:tr h="9832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     Model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  MAE 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  RMSE 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  R² Score 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3051154"/>
                  </a:ext>
                </a:extLst>
              </a:tr>
              <a:tr h="812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Linear Regression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 16.48%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20.44%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32%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9549606"/>
                  </a:ext>
                </a:extLst>
              </a:tr>
              <a:tr h="812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Decision Tree Regressor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9.85%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12.12%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76%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1766319"/>
                  </a:ext>
                </a:extLst>
              </a:tr>
              <a:tr h="812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+mj-lt"/>
                        </a:rPr>
                        <a:t>Random Forest Regressor</a:t>
                      </a:r>
                      <a:endParaRPr lang="en-IN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6.96%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10.49%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82%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0636798"/>
                  </a:ext>
                </a:extLst>
              </a:tr>
              <a:tr h="812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+mj-lt"/>
                        </a:rPr>
                        <a:t>XGBoost</a:t>
                      </a:r>
                      <a:r>
                        <a:rPr lang="en-IN" sz="2000" kern="100" dirty="0">
                          <a:effectLst/>
                          <a:latin typeface="+mj-lt"/>
                        </a:rPr>
                        <a:t> Regressor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6.56%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9.74%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+mj-lt"/>
                        </a:rPr>
                        <a:t>84%</a:t>
                      </a:r>
                      <a:endParaRPr lang="en-IN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4214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934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DF88-AB62-4485-D38D-405697A1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213" y="2389238"/>
            <a:ext cx="5968180" cy="224175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SCATTERPLOT FOR                MODEL PREDICTION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656332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92BB-4B7F-F662-DD9E-E959CAF5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8" y="551811"/>
            <a:ext cx="6347713" cy="1320800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chemeClr val="accent2"/>
                </a:solidFill>
              </a:rPr>
              <a:t>XGBoost</a:t>
            </a:r>
            <a:r>
              <a:rPr lang="en-US" sz="4000" b="1" dirty="0">
                <a:solidFill>
                  <a:schemeClr val="accent2"/>
                </a:solidFill>
              </a:rPr>
              <a:t> Regressor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89AC0-862C-D981-0D0A-F0F1D257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3F81D-9E9D-8277-C730-9525C3C3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26" y="1475233"/>
            <a:ext cx="6251350" cy="483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11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B9E6-3EBE-A0D8-244D-D80DF80E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562476"/>
            <a:ext cx="7896220" cy="13208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Randon Forest Regressor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C8BFA-148B-A5DA-7D9D-BDBB3ECD5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B6A7C2-FD37-A7A5-C552-A48F3B35B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" y="1450848"/>
            <a:ext cx="6197090" cy="484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63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5CD3-553E-3F15-B33F-315A8780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85" y="492350"/>
            <a:ext cx="6347713" cy="13208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 Decision Tree Regressor</a:t>
            </a:r>
            <a:endParaRPr lang="en-IN" sz="40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F6B2-FC0D-4C5D-4ACF-36B0918C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A748C-2AD6-BA35-ED90-E02F2A98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13" t="22068" r="46887" b="16807"/>
          <a:stretch>
            <a:fillRect/>
          </a:stretch>
        </p:blipFill>
        <p:spPr>
          <a:xfrm>
            <a:off x="511278" y="1409291"/>
            <a:ext cx="6538452" cy="485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0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D238-B381-F784-ABDC-FCA05C38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0991" y="0"/>
            <a:ext cx="7130904" cy="1320800"/>
          </a:xfrm>
        </p:spPr>
        <p:txBody>
          <a:bodyPr>
            <a:normAutofit/>
          </a:bodyPr>
          <a:lstStyle/>
          <a:p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			</a:t>
            </a:r>
            <a:r>
              <a:rPr lang="en-US" sz="4000" b="1" dirty="0">
                <a:solidFill>
                  <a:schemeClr val="accent2"/>
                </a:solidFill>
              </a:rPr>
              <a:t>Linear Regression 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B454B-7571-5DD8-435C-5CC5DA9F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B6ACC-A315-1F02-6A94-7C7CCEFC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6" t="23015" r="46999" b="15205"/>
          <a:stretch>
            <a:fillRect/>
          </a:stretch>
        </p:blipFill>
        <p:spPr>
          <a:xfrm>
            <a:off x="668593" y="1553496"/>
            <a:ext cx="6449962" cy="468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54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95" y="702991"/>
            <a:ext cx="6347713" cy="132080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92" y="1580053"/>
            <a:ext cx="7046985" cy="3880773"/>
          </a:xfrm>
        </p:spPr>
        <p:txBody>
          <a:bodyPr>
            <a:normAutofit fontScale="92500" lnSpcReduction="20000"/>
          </a:bodyPr>
          <a:lstStyle/>
          <a:p>
            <a:pPr lvl="1" indent="-342900">
              <a:buFont typeface="Wingdings" panose="05000000000000000000" pitchFamily="2" charset="2"/>
              <a:buChar char="v"/>
            </a:pPr>
            <a:r>
              <a:rPr lang="en-IN" sz="2800" dirty="0">
                <a:latin typeface="+mj-lt"/>
              </a:rPr>
              <a:t> </a:t>
            </a:r>
            <a:r>
              <a:rPr sz="3000" dirty="0">
                <a:latin typeface="+mj-lt"/>
              </a:rPr>
              <a:t>ML effectively predicts car </a:t>
            </a:r>
            <a:r>
              <a:rPr lang="en-IN" sz="3000" dirty="0">
                <a:latin typeface="+mj-lt"/>
              </a:rPr>
              <a:t>name.</a:t>
            </a:r>
            <a:endParaRPr sz="3000" dirty="0">
              <a:latin typeface="+mj-lt"/>
            </a:endParaRPr>
          </a:p>
          <a:p>
            <a:pPr marL="857250" lvl="1" indent="-457200">
              <a:buFont typeface="Wingdings" panose="05000000000000000000" pitchFamily="2" charset="2"/>
              <a:buChar char="v"/>
            </a:pPr>
            <a:r>
              <a:rPr sz="3000" dirty="0">
                <a:latin typeface="+mj-lt"/>
              </a:rPr>
              <a:t>Random Forest &amp; </a:t>
            </a:r>
            <a:r>
              <a:rPr sz="3000" dirty="0" err="1">
                <a:latin typeface="+mj-lt"/>
              </a:rPr>
              <a:t>XGBoost</a:t>
            </a:r>
            <a:r>
              <a:rPr sz="3000" dirty="0">
                <a:latin typeface="+mj-lt"/>
              </a:rPr>
              <a:t> gave best </a:t>
            </a:r>
            <a:r>
              <a:rPr lang="en-IN" sz="3000" dirty="0">
                <a:latin typeface="+mj-lt"/>
              </a:rPr>
              <a:t>accuracy.</a:t>
            </a:r>
            <a:endParaRPr sz="3000" dirty="0">
              <a:latin typeface="+mj-lt"/>
            </a:endParaRPr>
          </a:p>
          <a:p>
            <a:pPr marL="857250" lvl="1" indent="-457200">
              <a:buFont typeface="Wingdings" panose="05000000000000000000" pitchFamily="2" charset="2"/>
              <a:buChar char="v"/>
            </a:pPr>
            <a:r>
              <a:rPr sz="3000" dirty="0">
                <a:latin typeface="+mj-lt"/>
              </a:rPr>
              <a:t>Project improves transparency in pricing.</a:t>
            </a:r>
          </a:p>
          <a:p>
            <a:pPr marL="857250" lvl="1" indent="-457200">
              <a:buFont typeface="Wingdings" panose="05000000000000000000" pitchFamily="2" charset="2"/>
              <a:buChar char="v"/>
            </a:pPr>
            <a:r>
              <a:rPr sz="3000" dirty="0">
                <a:latin typeface="+mj-lt"/>
              </a:rPr>
              <a:t>Practical exposure to ML workflow.</a:t>
            </a:r>
          </a:p>
          <a:p>
            <a:pPr marL="857250" lvl="1" indent="-457200">
              <a:buFont typeface="Wingdings" panose="05000000000000000000" pitchFamily="2" charset="2"/>
              <a:buChar char="v"/>
            </a:pPr>
            <a:r>
              <a:rPr sz="3000" dirty="0">
                <a:latin typeface="+mj-lt"/>
              </a:rPr>
              <a:t>Can be scaled and integrated into real platforms.</a:t>
            </a:r>
            <a:endParaRPr lang="en-IN" sz="3000" dirty="0">
              <a:latin typeface="+mj-lt"/>
            </a:endParaRPr>
          </a:p>
          <a:p>
            <a:pPr marL="857250" lvl="1" indent="-457200">
              <a:buFont typeface="Wingdings" panose="05000000000000000000" pitchFamily="2" charset="2"/>
              <a:buChar char="v"/>
            </a:pPr>
            <a:r>
              <a:rPr lang="en-US" sz="3000" dirty="0">
                <a:latin typeface="+mj-lt"/>
              </a:rPr>
              <a:t>Internship bridged gap between theory and practice in ML applications.</a:t>
            </a:r>
          </a:p>
          <a:p>
            <a:pPr marL="857250" lvl="1" indent="-457200">
              <a:buFont typeface="Wingdings" panose="05000000000000000000" pitchFamily="2" charset="2"/>
              <a:buChar char="v"/>
            </a:pPr>
            <a:endParaRPr sz="2800" dirty="0"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bbon: Curved and Tilted Up 4">
            <a:extLst>
              <a:ext uri="{FF2B5EF4-FFF2-40B4-BE49-F238E27FC236}">
                <a16:creationId xmlns:a16="http://schemas.microsoft.com/office/drawing/2014/main" id="{B48A3E9F-DD12-D96C-C7A1-59984EFA3A34}"/>
              </a:ext>
            </a:extLst>
          </p:cNvPr>
          <p:cNvSpPr/>
          <p:nvPr/>
        </p:nvSpPr>
        <p:spPr>
          <a:xfrm>
            <a:off x="943897" y="2451090"/>
            <a:ext cx="6524388" cy="1955819"/>
          </a:xfrm>
          <a:prstGeom prst="ellipseRibbon2">
            <a:avLst>
              <a:gd name="adj1" fmla="val 25000"/>
              <a:gd name="adj2" fmla="val 100000"/>
              <a:gd name="adj3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2596493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382</TotalTime>
  <Words>656</Words>
  <Application>Microsoft Office PowerPoint</Application>
  <PresentationFormat>On-screen Show (4:3)</PresentationFormat>
  <Paragraphs>113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Wingdings 3</vt:lpstr>
      <vt:lpstr>Facet</vt:lpstr>
      <vt:lpstr>INTERNSHIP  PRESENTATION</vt:lpstr>
      <vt:lpstr>COMPANY PROFILE  </vt:lpstr>
      <vt:lpstr>PowerPoint Presentation</vt:lpstr>
      <vt:lpstr>INTRODUCTION</vt:lpstr>
      <vt:lpstr>ABSTRACT</vt:lpstr>
      <vt:lpstr>PROJECT OVERVIEW : CAR PRICE PREDICTION</vt:lpstr>
      <vt:lpstr>TOOLS AND TECHNOLOGIES</vt:lpstr>
      <vt:lpstr>DEVELOPMENT PROCESS</vt:lpstr>
      <vt:lpstr>CHALLENGES ENCOUNTERED</vt:lpstr>
      <vt:lpstr>RESULTS</vt:lpstr>
      <vt:lpstr>KEY LEARNINGS</vt:lpstr>
      <vt:lpstr>PowerPoint Presentation</vt:lpstr>
      <vt:lpstr>CORRELATION HEATMAP</vt:lpstr>
      <vt:lpstr> HISTOGRAM OF SELLING PRICE </vt:lpstr>
      <vt:lpstr>BOXPLOT FOR PRESENT PRICE </vt:lpstr>
      <vt:lpstr>YEAR VS. SELLING PRICE </vt:lpstr>
      <vt:lpstr>MODEL COMPARSION</vt:lpstr>
      <vt:lpstr>PowerPoint Presentation</vt:lpstr>
      <vt:lpstr> SCATTERPLOT FOR                MODEL PREDICTION</vt:lpstr>
      <vt:lpstr>XGBoost Regressor</vt:lpstr>
      <vt:lpstr>Randon Forest Regressor      </vt:lpstr>
      <vt:lpstr> Decision Tree Regressor</vt:lpstr>
      <vt:lpstr>     Linear Regression 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GOD</dc:creator>
  <cp:keywords/>
  <dc:description>generated using python-pptx</dc:description>
  <cp:lastModifiedBy>jesus jesus</cp:lastModifiedBy>
  <cp:revision>90</cp:revision>
  <dcterms:created xsi:type="dcterms:W3CDTF">2013-01-27T09:14:16Z</dcterms:created>
  <dcterms:modified xsi:type="dcterms:W3CDTF">2025-10-22T13:24:12Z</dcterms:modified>
  <cp:category/>
</cp:coreProperties>
</file>